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f27698f0334ae0" /><Relationship Type="http://schemas.openxmlformats.org/officeDocument/2006/relationships/extended-properties" Target="/docProps/app.xml" Id="Re28192323847414d" /><Relationship Type="http://schemas.openxmlformats.org/officeDocument/2006/relationships/officeDocument" Target="/ppt/presentation.xml" Id="Ra285934ed7084c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2f29ae78ae43fb"/>
  </p:sldMasterIdLst>
  <p:notesMasterIdLst>
    <p:notesMasterId xmlns:r="http://schemas.openxmlformats.org/officeDocument/2006/relationships" r:id="R228585baa24349f1"/>
  </p:notesMasterIdLst>
  <p:sldIdLst>
    <p:sldId xmlns:r="http://schemas.openxmlformats.org/officeDocument/2006/relationships" id="256" r:id="Raf0b8e4f5d394767"/>
    <p:sldId xmlns:r="http://schemas.openxmlformats.org/officeDocument/2006/relationships" id="257" r:id="R44b101000c664703"/>
    <p:sldId xmlns:r="http://schemas.openxmlformats.org/officeDocument/2006/relationships" id="258" r:id="Red5d581601b946d8"/>
    <p:sldId xmlns:r="http://schemas.openxmlformats.org/officeDocument/2006/relationships" id="259" r:id="Rdc4c889eed104854"/>
    <p:sldId xmlns:r="http://schemas.openxmlformats.org/officeDocument/2006/relationships" id="260" r:id="R52aa7d1f504d418a"/>
    <p:sldId xmlns:r="http://schemas.openxmlformats.org/officeDocument/2006/relationships" id="261" r:id="Ra9cd5bc8132749d1"/>
    <p:sldId xmlns:r="http://schemas.openxmlformats.org/officeDocument/2006/relationships" id="262" r:id="R9f433315cfb34a1e"/>
    <p:sldId xmlns:r="http://schemas.openxmlformats.org/officeDocument/2006/relationships" id="263" r:id="R8e00b2c64a034efe"/>
    <p:sldId xmlns:r="http://schemas.openxmlformats.org/officeDocument/2006/relationships" id="264" r:id="R0b9c9399b4d54f73"/>
    <p:sldId xmlns:r="http://schemas.openxmlformats.org/officeDocument/2006/relationships" id="265" r:id="R4522671e5a094278"/>
    <p:sldId xmlns:r="http://schemas.openxmlformats.org/officeDocument/2006/relationships" id="266" r:id="R02a2b0a442dd4e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44b0f3f511437c" /><Relationship Type="http://schemas.openxmlformats.org/officeDocument/2006/relationships/slideMaster" Target="/ppt/slideMasters/slideMaster1.xml" Id="R092f29ae78ae43fb" /><Relationship Type="http://schemas.openxmlformats.org/officeDocument/2006/relationships/notesMaster" Target="/ppt/notesMasters/notesMaster1.xml" Id="R228585baa24349f1" /><Relationship Type="http://schemas.openxmlformats.org/officeDocument/2006/relationships/presProps" Target="/ppt/presProps.xml" Id="R13bf89ade5b4426a" /><Relationship Type="http://schemas.openxmlformats.org/officeDocument/2006/relationships/tableStyles" Target="/ppt/tableStyles.xml" Id="R48beb803890f434c" /><Relationship Type="http://schemas.openxmlformats.org/officeDocument/2006/relationships/slide" Target="/ppt/slides/slide1.xml" Id="Raf0b8e4f5d394767" /><Relationship Type="http://schemas.openxmlformats.org/officeDocument/2006/relationships/slide" Target="/ppt/slides/slide2.xml" Id="R44b101000c664703" /><Relationship Type="http://schemas.openxmlformats.org/officeDocument/2006/relationships/slide" Target="/ppt/slides/slide3.xml" Id="Red5d581601b946d8" /><Relationship Type="http://schemas.openxmlformats.org/officeDocument/2006/relationships/slide" Target="/ppt/slides/slide4.xml" Id="Rdc4c889eed104854" /><Relationship Type="http://schemas.openxmlformats.org/officeDocument/2006/relationships/slide" Target="/ppt/slides/slide5.xml" Id="R52aa7d1f504d418a" /><Relationship Type="http://schemas.openxmlformats.org/officeDocument/2006/relationships/slide" Target="/ppt/slides/slide6.xml" Id="Ra9cd5bc8132749d1" /><Relationship Type="http://schemas.openxmlformats.org/officeDocument/2006/relationships/slide" Target="/ppt/slides/slide7.xml" Id="R9f433315cfb34a1e" /><Relationship Type="http://schemas.openxmlformats.org/officeDocument/2006/relationships/slide" Target="/ppt/slides/slide8.xml" Id="R8e00b2c64a034efe" /><Relationship Type="http://schemas.openxmlformats.org/officeDocument/2006/relationships/slide" Target="/ppt/slides/slide9.xml" Id="R0b9c9399b4d54f73" /><Relationship Type="http://schemas.openxmlformats.org/officeDocument/2006/relationships/slide" Target="/ppt/slides/slide10.xml" Id="R4522671e5a094278" /><Relationship Type="http://schemas.openxmlformats.org/officeDocument/2006/relationships/slide" Target="/ppt/slides/slide11.xml" Id="R02a2b0a442dd4e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f2a1599ffb47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21d202b5d84097" /><Relationship Type="http://schemas.openxmlformats.org/officeDocument/2006/relationships/notesMaster" Target="/ppt/notesMasters/notesMaster1.xml" Id="Rf39c3ca7e539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1c705f8c664b87" /><Relationship Type="http://schemas.openxmlformats.org/officeDocument/2006/relationships/notesMaster" Target="/ppt/notesMasters/notesMaster1.xml" Id="R05be16adfb2b4f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4d79bbbf644b91" /><Relationship Type="http://schemas.openxmlformats.org/officeDocument/2006/relationships/notesMaster" Target="/ppt/notesMasters/notesMaster1.xml" Id="R3a3a0db3b47345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176f421ab54b23" /><Relationship Type="http://schemas.openxmlformats.org/officeDocument/2006/relationships/notesMaster" Target="/ppt/notesMasters/notesMaster1.xml" Id="R90abafb3b35d46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b6b61449ba452d" /><Relationship Type="http://schemas.openxmlformats.org/officeDocument/2006/relationships/notesMaster" Target="/ppt/notesMasters/notesMaster1.xml" Id="R276324b9ece143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94f473381448f1" /><Relationship Type="http://schemas.openxmlformats.org/officeDocument/2006/relationships/notesMaster" Target="/ppt/notesMasters/notesMaster1.xml" Id="R0c6f1f3fc0a248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f05a6807f449bf" /><Relationship Type="http://schemas.openxmlformats.org/officeDocument/2006/relationships/notesMaster" Target="/ppt/notesMasters/notesMaster1.xml" Id="R489d742d439545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d41ac9e7214aa6" /><Relationship Type="http://schemas.openxmlformats.org/officeDocument/2006/relationships/notesMaster" Target="/ppt/notesMasters/notesMaster1.xml" Id="R62cc84a6e4cd4d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d8116de97f4b52" /><Relationship Type="http://schemas.openxmlformats.org/officeDocument/2006/relationships/notesMaster" Target="/ppt/notesMasters/notesMaster1.xml" Id="R2298f2cee8214e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5029b98e8b4d5f" /><Relationship Type="http://schemas.openxmlformats.org/officeDocument/2006/relationships/notesMaster" Target="/ppt/notesMasters/notesMaster1.xml" Id="R24c6b8ee1ab34c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62feb4c3304f50" /><Relationship Type="http://schemas.openxmlformats.org/officeDocument/2006/relationships/notesMaster" Target="/ppt/notesMasters/notesMaster1.xml" Id="R2e74420320a34f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c0c149fc74e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c66069d29f481b" /><Relationship Type="http://schemas.openxmlformats.org/officeDocument/2006/relationships/slideLayout" Target="/ppt/slideLayouts/slideLayout1.xml" Id="Rc1f53f3ee2164a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f53f3ee2164a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1d39851d84cfd" /><Relationship Type="http://schemas.openxmlformats.org/officeDocument/2006/relationships/notesSlide" Target="/ppt/notesSlides/notesSlide1.xml" Id="Rf2206400c5fd44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531d71fe7415f" /><Relationship Type="http://schemas.openxmlformats.org/officeDocument/2006/relationships/notesSlide" Target="/ppt/notesSlides/notesSlide2.xml" Id="Re8ee6ca55cff4d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4ba2f1f414664" /><Relationship Type="http://schemas.openxmlformats.org/officeDocument/2006/relationships/notesSlide" Target="/ppt/notesSlides/notesSlide3.xml" Id="Re5cc9bd9903f4d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7f59dbc694a5b" /><Relationship Type="http://schemas.openxmlformats.org/officeDocument/2006/relationships/notesSlide" Target="/ppt/notesSlides/notesSlide4.xml" Id="Rbf465291d8a04e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6fd0376814d54" /><Relationship Type="http://schemas.openxmlformats.org/officeDocument/2006/relationships/notesSlide" Target="/ppt/notesSlides/notesSlide5.xml" Id="R80f978d125bd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03e3e6fdc4f41" /><Relationship Type="http://schemas.openxmlformats.org/officeDocument/2006/relationships/notesSlide" Target="/ppt/notesSlides/notesSlide6.xml" Id="R55a1c1defc254f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77a1949ad4242" /><Relationship Type="http://schemas.openxmlformats.org/officeDocument/2006/relationships/notesSlide" Target="/ppt/notesSlides/notesSlide7.xml" Id="Raf9acb74041c45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b62d883004ff0" /><Relationship Type="http://schemas.openxmlformats.org/officeDocument/2006/relationships/notesSlide" Target="/ppt/notesSlides/notesSlide8.xml" Id="R1088a3170f1341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b9915df5e4dd8" /><Relationship Type="http://schemas.openxmlformats.org/officeDocument/2006/relationships/notesSlide" Target="/ppt/notesSlides/notesSlide9.xml" Id="Rec74d910856a47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3a5cee4bf46e3" /><Relationship Type="http://schemas.openxmlformats.org/officeDocument/2006/relationships/notesSlide" Target="/ppt/notesSlides/notesSlide10.xml" Id="R055a75770b724f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4bb1d215842f3" /><Relationship Type="http://schemas.openxmlformats.org/officeDocument/2006/relationships/notesSlide" Target="/ppt/notesSlides/notesSlide11.xml" Id="R247ae334df514a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1">
            <a:extLst xmlns:a="http://schemas.openxmlformats.org/drawingml/2006/main">
              <a:ext uri="{FF2B5EF4-FFF2-40B4-BE49-F238E27FC236}">
                <a16:creationId xmlns:a16="http://schemas.microsoft.com/office/drawing/2014/main" id="{610C1677-87C3-40FC-BC4F-7EDFCB15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BEGINNER SERIES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645A09B3-AAC6-4CC8-937D-782E0554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1D85E34F-3EC5-4697-8B80-AF15BC8A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192E37-ACE8-4AB6-A524-B07EE8AE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Radar intuition</a:t>
            </a:r>
          </a:p>
          <a:p xmlns:a="http://schemas.openxmlformats.org/drawingml/2006/main">
            <a:pPr algn="l">
              <a:defRPr sz="4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and baseline parameters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A9B1A62-2F58-4E81-AA1B-9E70DFD0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Transmit briefly. Listen carefully. Turn echo delay into distance.</a:t>
            </a:r>
          </a:p>
        </p:txBody>
      </p:sp>
      <p:sp>
        <p:nvSpPr>
          <p:cNvPr id="6" name="cover-pulse">
            <a:extLst xmlns:a="http://schemas.openxmlformats.org/drawingml/2006/main">
              <a:ext uri="{FF2B5EF4-FFF2-40B4-BE49-F238E27FC236}">
                <a16:creationId xmlns:a16="http://schemas.microsoft.com/office/drawing/2014/main" id="{7CFCC831-4DF7-468E-8732-4027D40C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419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listen">
            <a:extLst xmlns:a="http://schemas.openxmlformats.org/drawingml/2006/main">
              <a:ext uri="{FF2B5EF4-FFF2-40B4-BE49-F238E27FC236}">
                <a16:creationId xmlns:a16="http://schemas.microsoft.com/office/drawing/2014/main" id="{F84035B8-818F-4627-ADB3-BEC5EB89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431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x-label">
            <a:extLst xmlns:a="http://schemas.openxmlformats.org/drawingml/2006/main">
              <a:ext uri="{FF2B5EF4-FFF2-40B4-BE49-F238E27FC236}">
                <a16:creationId xmlns:a16="http://schemas.microsoft.com/office/drawing/2014/main" id="{649AFC28-D57D-46BD-97C4-5BAAB72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rPr>
              <a:t>TX</a:t>
            </a:r>
          </a:p>
        </p:txBody>
      </p:sp>
      <p:sp>
        <p:nvSpPr>
          <p:cNvPr id="9" name="cover-rx-label">
            <a:extLst xmlns:a="http://schemas.openxmlformats.org/drawingml/2006/main">
              <a:ext uri="{FF2B5EF4-FFF2-40B4-BE49-F238E27FC236}">
                <a16:creationId xmlns:a16="http://schemas.microsoft.com/office/drawing/2014/main" id="{B8092EDA-9386-48C0-A833-45F28F52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95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rPr>
              <a:t>LISTEN</a:t>
            </a:r>
          </a:p>
        </p:txBody>
      </p:sp>
    </p:spTree>
    <p:extLst>
      <p:ext uri="{BB962C8B-B14F-4D97-AF65-F5344CB8AC3E}">
        <p14:creationId xmlns:p14="http://schemas.microsoft.com/office/powerpoint/2010/main" val="1004504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3414AD80-F1C5-4657-8E27-B6C10848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A5462F02-2DC1-4F28-ACDB-2DDB410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D76A0B4C-142C-4FCA-A2C4-2AD4095C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585D6B7E-C50B-45DE-A3A8-7296601E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Four ideas anchor the lesson</a:t>
            </a:r>
          </a:p>
        </p:txBody>
      </p:sp>
      <p:sp>
        <p:nvSpPr>
          <p:cNvPr id="5" name="goal-num-0">
            <a:extLst xmlns:a="http://schemas.openxmlformats.org/drawingml/2006/main">
              <a:ext uri="{FF2B5EF4-FFF2-40B4-BE49-F238E27FC236}">
                <a16:creationId xmlns:a16="http://schemas.microsoft.com/office/drawing/2014/main" id="{E957C894-5D44-4586-B4B1-A8E8D976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goal-title-0">
            <a:extLst xmlns:a="http://schemas.openxmlformats.org/drawingml/2006/main">
              <a:ext uri="{FF2B5EF4-FFF2-40B4-BE49-F238E27FC236}">
                <a16:creationId xmlns:a16="http://schemas.microsoft.com/office/drawing/2014/main" id="{0C73BC64-6554-4432-8ED0-9E52FD4E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Pulse radar</a:t>
            </a:r>
          </a:p>
        </p:txBody>
      </p:sp>
      <p:sp>
        <p:nvSpPr>
          <p:cNvPr id="7" name="goal-body-0">
            <a:extLst xmlns:a="http://schemas.openxmlformats.org/drawingml/2006/main">
              <a:ext uri="{FF2B5EF4-FFF2-40B4-BE49-F238E27FC236}">
                <a16:creationId xmlns:a16="http://schemas.microsoft.com/office/drawing/2014/main" id="{019E475F-ED32-41AC-A9B1-F5D437B8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Send a short burst, then stop transmitting.</a:t>
            </a:r>
          </a:p>
        </p:txBody>
      </p:sp>
      <p:sp>
        <p:nvSpPr>
          <p:cNvPr id="8" name="rule-48-334">
            <a:extLst xmlns:a="http://schemas.openxmlformats.org/drawingml/2006/main">
              <a:ext uri="{FF2B5EF4-FFF2-40B4-BE49-F238E27FC236}">
                <a16:creationId xmlns:a16="http://schemas.microsoft.com/office/drawing/2014/main" id="{27BE6E77-E85A-4944-800F-53475E6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oal-num-1">
            <a:extLst xmlns:a="http://schemas.openxmlformats.org/drawingml/2006/main">
              <a:ext uri="{FF2B5EF4-FFF2-40B4-BE49-F238E27FC236}">
                <a16:creationId xmlns:a16="http://schemas.microsoft.com/office/drawing/2014/main" id="{70894657-5F3B-46D3-AD5A-82413BC3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FC7750F0-FA42-481F-9E29-5E31C7D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Listening window</a:t>
            </a:r>
          </a:p>
        </p:txBody>
      </p:sp>
      <p:sp>
        <p:nvSpPr>
          <p:cNvPr id="11" name="goal-body-1">
            <a:extLst xmlns:a="http://schemas.openxmlformats.org/drawingml/2006/main">
              <a:ext uri="{FF2B5EF4-FFF2-40B4-BE49-F238E27FC236}">
                <a16:creationId xmlns:a16="http://schemas.microsoft.com/office/drawing/2014/main" id="{47A6CA56-D80E-4E06-8F92-43557AD6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Give a distant echo time to return.</a:t>
            </a:r>
          </a:p>
        </p:txBody>
      </p:sp>
      <p:sp>
        <p:nvSpPr>
          <p:cNvPr id="12" name="rule-640-334">
            <a:extLst xmlns:a="http://schemas.openxmlformats.org/drawingml/2006/main">
              <a:ext uri="{FF2B5EF4-FFF2-40B4-BE49-F238E27FC236}">
                <a16:creationId xmlns:a16="http://schemas.microsoft.com/office/drawing/2014/main" id="{3BA8C99E-518B-44B1-9562-522E30F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oal-num-2">
            <a:extLst xmlns:a="http://schemas.openxmlformats.org/drawingml/2006/main">
              <a:ext uri="{FF2B5EF4-FFF2-40B4-BE49-F238E27FC236}">
                <a16:creationId xmlns:a16="http://schemas.microsoft.com/office/drawing/2014/main" id="{554CDF7D-C4BD-4DA7-ABEC-E0697A01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55F1FE38-1AA5-4A99-BD12-9F2EFC93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Duty cycle</a:t>
            </a:r>
          </a:p>
        </p:txBody>
      </p:sp>
      <p:sp>
        <p:nvSpPr>
          <p:cNvPr id="15" name="goal-body-2">
            <a:extLst xmlns:a="http://schemas.openxmlformats.org/drawingml/2006/main">
              <a:ext uri="{FF2B5EF4-FFF2-40B4-BE49-F238E27FC236}">
                <a16:creationId xmlns:a16="http://schemas.microsoft.com/office/drawing/2014/main" id="{A1A892CA-4411-4B1A-A479-FC15505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05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Measure the fraction of time spent transmitting.</a:t>
            </a:r>
          </a:p>
        </p:txBody>
      </p:sp>
      <p:sp>
        <p:nvSpPr>
          <p:cNvPr id="16" name="rule-48-539">
            <a:extLst xmlns:a="http://schemas.openxmlformats.org/drawingml/2006/main">
              <a:ext uri="{FF2B5EF4-FFF2-40B4-BE49-F238E27FC236}">
                <a16:creationId xmlns:a16="http://schemas.microsoft.com/office/drawing/2014/main" id="{362E2808-8243-416B-97E9-5B781A85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33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oal-num-3">
            <a:extLst xmlns:a="http://schemas.openxmlformats.org/drawingml/2006/main">
              <a:ext uri="{FF2B5EF4-FFF2-40B4-BE49-F238E27FC236}">
                <a16:creationId xmlns:a16="http://schemas.microsoft.com/office/drawing/2014/main" id="{D4CA8337-E5C2-4765-8440-2074F8CF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goal-title-3">
            <a:extLst xmlns:a="http://schemas.openxmlformats.org/drawingml/2006/main">
              <a:ext uri="{FF2B5EF4-FFF2-40B4-BE49-F238E27FC236}">
                <a16:creationId xmlns:a16="http://schemas.microsoft.com/office/drawing/2014/main" id="{CB9509D8-B30F-4E6C-B5D8-559788A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671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Delay → range</a:t>
            </a:r>
          </a:p>
        </p:txBody>
      </p:sp>
      <p:sp>
        <p:nvSpPr>
          <p:cNvPr id="19" name="goal-body-3">
            <a:extLst xmlns:a="http://schemas.openxmlformats.org/drawingml/2006/main">
              <a:ext uri="{FF2B5EF4-FFF2-40B4-BE49-F238E27FC236}">
                <a16:creationId xmlns:a16="http://schemas.microsoft.com/office/drawing/2014/main" id="{5641356C-0936-4D94-8697-E5CF297C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005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Convert round-trip travel time into distance.</a:t>
            </a:r>
          </a:p>
        </p:txBody>
      </p:sp>
      <p:sp>
        <p:nvSpPr>
          <p:cNvPr id="20" name="rule-640-539">
            <a:extLst xmlns:a="http://schemas.openxmlformats.org/drawingml/2006/main">
              <a:ext uri="{FF2B5EF4-FFF2-40B4-BE49-F238E27FC236}">
                <a16:creationId xmlns:a16="http://schemas.microsoft.com/office/drawing/2014/main" id="{C8302E95-1167-45EE-9EA1-5B478B2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33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5700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-3">
            <a:extLst xmlns:a="http://schemas.openxmlformats.org/drawingml/2006/main">
              <a:ext uri="{FF2B5EF4-FFF2-40B4-BE49-F238E27FC236}">
                <a16:creationId xmlns:a16="http://schemas.microsoft.com/office/drawing/2014/main" id="{BB4F0E0B-E3BA-4A73-BD53-FECB956F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38ED322B-5FBD-4CBB-B4DC-686FB4BB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3513AA54-9E35-4A87-A2D7-ACF94D12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F776D726-5873-4EEC-BBA3-DE68ACAD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One baseline connects every lesson</a:t>
            </a:r>
          </a:p>
        </p:txBody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30914467-314F-4A45-9C74-92FBF00A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-text-0">
            <a:extLst xmlns:a="http://schemas.openxmlformats.org/drawingml/2006/main">
              <a:ext uri="{FF2B5EF4-FFF2-40B4-BE49-F238E27FC236}">
                <a16:creationId xmlns:a16="http://schemas.microsoft.com/office/drawing/2014/main" id="{28690260-7255-40BA-AF26-D2CEF8C9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Quantity</a:t>
            </a:r>
          </a:p>
        </p:txBody>
      </p:sp>
      <p:sp>
        <p:nvSpPr>
          <p:cNvPr id="7" name="head-1">
            <a:extLst xmlns:a="http://schemas.openxmlformats.org/drawingml/2006/main">
              <a:ext uri="{FF2B5EF4-FFF2-40B4-BE49-F238E27FC236}">
                <a16:creationId xmlns:a16="http://schemas.microsoft.com/office/drawing/2014/main" id="{1A912B53-C267-43F2-8F52-6AF77481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-text-1">
            <a:extLst xmlns:a="http://schemas.openxmlformats.org/drawingml/2006/main">
              <a:ext uri="{FF2B5EF4-FFF2-40B4-BE49-F238E27FC236}">
                <a16:creationId xmlns:a16="http://schemas.microsoft.com/office/drawing/2014/main" id="{50384E62-E5E9-4DF5-8FBF-CE43EFF0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716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Value</a:t>
            </a:r>
          </a:p>
        </p:txBody>
      </p:sp>
      <p:sp>
        <p:nvSpPr>
          <p:cNvPr id="9" name="head-2">
            <a:extLst xmlns:a="http://schemas.openxmlformats.org/drawingml/2006/main">
              <a:ext uri="{FF2B5EF4-FFF2-40B4-BE49-F238E27FC236}">
                <a16:creationId xmlns:a16="http://schemas.microsoft.com/office/drawing/2014/main" id="{B037EF5C-3E5F-4333-B33E-976895AE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57350"/>
            <a:ext cx="5962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-text-2">
            <a:extLst xmlns:a="http://schemas.openxmlformats.org/drawingml/2006/main">
              <a:ext uri="{FF2B5EF4-FFF2-40B4-BE49-F238E27FC236}">
                <a16:creationId xmlns:a16="http://schemas.microsoft.com/office/drawing/2014/main" id="{1EE36900-144D-408C-BC73-DE3C260E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716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Physical role</a:t>
            </a:r>
          </a:p>
        </p:txBody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A121C69A-AA97-44A4-9EA6-12EFA74B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BF4B8096-BE03-4834-AB69-EDACC687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Carrier frequency</a:t>
            </a:r>
          </a:p>
        </p:txBody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058DFAC7-7F48-491B-BD99-BE9EDB14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32A5D2A2-223B-47B1-B86B-1D7A7C03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050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2.45 GHz</a:t>
            </a:r>
          </a:p>
        </p:txBody>
      </p:sp>
      <p:sp>
        <p:nvSpPr>
          <p:cNvPr id="15" name="cell-0-2">
            <a:extLst xmlns:a="http://schemas.openxmlformats.org/drawingml/2006/main">
              <a:ext uri="{FF2B5EF4-FFF2-40B4-BE49-F238E27FC236}">
                <a16:creationId xmlns:a16="http://schemas.microsoft.com/office/drawing/2014/main" id="{C1EB94E7-D2E3-4925-A8D2-C202010C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596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E2B5D4F9-80DB-4C2A-8D0D-E7A7EDE3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569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Wavelength and later Doppler</a:t>
            </a:r>
          </a:p>
        </p:txBody>
      </p:sp>
      <p:sp>
        <p:nvSpPr>
          <p:cNvPr id="17" name="cell-1-0">
            <a:extLst xmlns:a="http://schemas.openxmlformats.org/drawingml/2006/main">
              <a:ext uri="{FF2B5EF4-FFF2-40B4-BE49-F238E27FC236}">
                <a16:creationId xmlns:a16="http://schemas.microsoft.com/office/drawing/2014/main" id="{4F7BD20A-8AF7-4818-AFB7-3B8A50ED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17D72ABB-F552-4E8A-8D61-3EA7238A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Bandwidth</a:t>
            </a:r>
          </a:p>
        </p:txBody>
      </p:sp>
      <p:sp>
        <p:nvSpPr>
          <p:cNvPr id="19" name="cell-1-1">
            <a:extLst xmlns:a="http://schemas.openxmlformats.org/drawingml/2006/main">
              <a:ext uri="{FF2B5EF4-FFF2-40B4-BE49-F238E27FC236}">
                <a16:creationId xmlns:a16="http://schemas.microsoft.com/office/drawing/2014/main" id="{1B294D16-BEA4-4BDD-993D-A51EC5EB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7B653BC5-70EC-4EB7-925D-2747264A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5 MHz</a:t>
            </a:r>
          </a:p>
        </p:txBody>
      </p:sp>
      <p:sp>
        <p:nvSpPr>
          <p:cNvPr id="21" name="cell-1-2">
            <a:extLst xmlns:a="http://schemas.openxmlformats.org/drawingml/2006/main">
              <a:ext uri="{FF2B5EF4-FFF2-40B4-BE49-F238E27FC236}">
                <a16:creationId xmlns:a16="http://schemas.microsoft.com/office/drawing/2014/main" id="{60E29BDA-F204-439E-A165-72FE9DF7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596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D01F9847-CEB4-4CC5-B754-2029F9AE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71800"/>
            <a:ext cx="569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Pulse-compressed range resolution</a:t>
            </a:r>
          </a:p>
        </p:txBody>
      </p:sp>
      <p:sp>
        <p:nvSpPr>
          <p:cNvPr id="23" name="cell-2-0">
            <a:extLst xmlns:a="http://schemas.openxmlformats.org/drawingml/2006/main">
              <a:ext uri="{FF2B5EF4-FFF2-40B4-BE49-F238E27FC236}">
                <a16:creationId xmlns:a16="http://schemas.microsoft.com/office/drawing/2014/main" id="{ECC77F1C-623B-4D85-A2AF-C7F5D9F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976BC6DD-359C-4A15-B201-E27EB248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Pulse width</a:t>
            </a:r>
          </a:p>
        </p:txBody>
      </p:sp>
      <p:sp>
        <p:nvSpPr>
          <p:cNvPr id="25" name="cell-2-1">
            <a:extLst xmlns:a="http://schemas.openxmlformats.org/drawingml/2006/main">
              <a:ext uri="{FF2B5EF4-FFF2-40B4-BE49-F238E27FC236}">
                <a16:creationId xmlns:a16="http://schemas.microsoft.com/office/drawing/2014/main" id="{6182BA04-7BBA-4334-A55F-EB07CE49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1929E143-08E5-4FC9-8BD6-4BD997DB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20 μs</a:t>
            </a:r>
          </a:p>
        </p:txBody>
      </p:sp>
      <p:sp>
        <p:nvSpPr>
          <p:cNvPr id="27" name="cell-2-2">
            <a:extLst xmlns:a="http://schemas.openxmlformats.org/drawingml/2006/main">
              <a:ext uri="{FF2B5EF4-FFF2-40B4-BE49-F238E27FC236}">
                <a16:creationId xmlns:a16="http://schemas.microsoft.com/office/drawing/2014/main" id="{7E56D049-7FD3-476F-9895-A4D80612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67100"/>
            <a:ext cx="596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AAFEF43F-EB78-4A03-BE03-C7C018D0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38550"/>
            <a:ext cx="569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Duration of each transmitted burst</a:t>
            </a:r>
          </a:p>
        </p:txBody>
      </p:sp>
      <p:sp>
        <p:nvSpPr>
          <p:cNvPr id="29" name="cell-3-0">
            <a:extLst xmlns:a="http://schemas.openxmlformats.org/drawingml/2006/main">
              <a:ext uri="{FF2B5EF4-FFF2-40B4-BE49-F238E27FC236}">
                <a16:creationId xmlns:a16="http://schemas.microsoft.com/office/drawing/2014/main" id="{CAC379F1-B1B7-42EA-9ADE-0BDAB8A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9EF14514-0DCB-41C0-A2AF-9F368ADB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PRI</a:t>
            </a:r>
          </a:p>
        </p:txBody>
      </p:sp>
      <p:sp>
        <p:nvSpPr>
          <p:cNvPr id="31" name="cell-3-1">
            <a:extLst xmlns:a="http://schemas.openxmlformats.org/drawingml/2006/main">
              <a:ext uri="{FF2B5EF4-FFF2-40B4-BE49-F238E27FC236}">
                <a16:creationId xmlns:a16="http://schemas.microsoft.com/office/drawing/2014/main" id="{4EB4CEBF-5CA6-4BD1-8C01-76F9C748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338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68392274-6654-4B1F-B395-3472E5A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053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1 ms</a:t>
            </a:r>
          </a:p>
        </p:txBody>
      </p:sp>
      <p:sp>
        <p:nvSpPr>
          <p:cNvPr id="33" name="cell-3-2">
            <a:extLst xmlns:a="http://schemas.openxmlformats.org/drawingml/2006/main">
              <a:ext uri="{FF2B5EF4-FFF2-40B4-BE49-F238E27FC236}">
                <a16:creationId xmlns:a16="http://schemas.microsoft.com/office/drawing/2014/main" id="{87F242A4-5C04-4B17-B645-275F4CA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33850"/>
            <a:ext cx="596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F338EF43-573F-453D-83C4-4C646A7A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05300"/>
            <a:ext cx="569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Time available before the next pulse</a:t>
            </a:r>
          </a:p>
        </p:txBody>
      </p:sp>
      <p:sp>
        <p:nvSpPr>
          <p:cNvPr id="35" name="cell-4-0">
            <a:extLst xmlns:a="http://schemas.openxmlformats.org/drawingml/2006/main">
              <a:ext uri="{FF2B5EF4-FFF2-40B4-BE49-F238E27FC236}">
                <a16:creationId xmlns:a16="http://schemas.microsoft.com/office/drawing/2014/main" id="{DBF91C20-93EB-4863-A84B-E2A462EB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DB3660E2-A635-4858-8BE3-065E3A5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Sampling rate</a:t>
            </a:r>
          </a:p>
        </p:txBody>
      </p:sp>
      <p:sp>
        <p:nvSpPr>
          <p:cNvPr id="37" name="cell-4-1">
            <a:extLst xmlns:a="http://schemas.openxmlformats.org/drawingml/2006/main">
              <a:ext uri="{FF2B5EF4-FFF2-40B4-BE49-F238E27FC236}">
                <a16:creationId xmlns:a16="http://schemas.microsoft.com/office/drawing/2014/main" id="{89ED4412-ECAB-4E9C-8293-7A4D6FF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EF73E289-4D3C-4060-A57A-8AC01372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720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20 MHz</a:t>
            </a:r>
          </a:p>
        </p:txBody>
      </p:sp>
      <p:sp>
        <p:nvSpPr>
          <p:cNvPr id="39" name="cell-4-2">
            <a:extLst xmlns:a="http://schemas.openxmlformats.org/drawingml/2006/main">
              <a:ext uri="{FF2B5EF4-FFF2-40B4-BE49-F238E27FC236}">
                <a16:creationId xmlns:a16="http://schemas.microsoft.com/office/drawing/2014/main" id="{A9A468EB-5DD7-45B2-9ACD-8564E4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00600"/>
            <a:ext cx="596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4084A002-78A2-4C94-BBA1-B50EC7C7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72050"/>
            <a:ext cx="569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20 million recorded samples per second</a:t>
            </a:r>
          </a:p>
        </p:txBody>
      </p:sp>
      <p:sp>
        <p:nvSpPr>
          <p:cNvPr id="41" name="cell-5-0">
            <a:extLst xmlns:a="http://schemas.openxmlformats.org/drawingml/2006/main">
              <a:ext uri="{FF2B5EF4-FFF2-40B4-BE49-F238E27FC236}">
                <a16:creationId xmlns:a16="http://schemas.microsoft.com/office/drawing/2014/main" id="{E62621BB-248E-419E-9379-32FD5ADC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cell-text-5-0">
            <a:extLst xmlns:a="http://schemas.openxmlformats.org/drawingml/2006/main">
              <a:ext uri="{FF2B5EF4-FFF2-40B4-BE49-F238E27FC236}">
                <a16:creationId xmlns:a16="http://schemas.microsoft.com/office/drawing/2014/main" id="{85ECAE03-3CF2-4475-91DF-818AC9DB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Target range</a:t>
            </a:r>
          </a:p>
        </p:txBody>
      </p:sp>
      <p:sp>
        <p:nvSpPr>
          <p:cNvPr id="43" name="cell-5-1">
            <a:extLst xmlns:a="http://schemas.openxmlformats.org/drawingml/2006/main">
              <a:ext uri="{FF2B5EF4-FFF2-40B4-BE49-F238E27FC236}">
                <a16:creationId xmlns:a16="http://schemas.microsoft.com/office/drawing/2014/main" id="{C4F72CD2-B5AE-4D9D-9DD2-41398C18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673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cell-text-5-1">
            <a:extLst xmlns:a="http://schemas.openxmlformats.org/drawingml/2006/main">
              <a:ext uri="{FF2B5EF4-FFF2-40B4-BE49-F238E27FC236}">
                <a16:creationId xmlns:a16="http://schemas.microsoft.com/office/drawing/2014/main" id="{223FDD65-F92A-4B8F-923B-A4E3F55E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6388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1,000 m</a:t>
            </a:r>
          </a:p>
        </p:txBody>
      </p:sp>
      <p:sp>
        <p:nvSpPr>
          <p:cNvPr id="45" name="cell-5-2">
            <a:extLst xmlns:a="http://schemas.openxmlformats.org/drawingml/2006/main">
              <a:ext uri="{FF2B5EF4-FFF2-40B4-BE49-F238E27FC236}">
                <a16:creationId xmlns:a16="http://schemas.microsoft.com/office/drawing/2014/main" id="{C065B397-D0BF-4A0E-BFE4-0CBBB118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67350"/>
            <a:ext cx="596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cell-text-5-2">
            <a:extLst xmlns:a="http://schemas.openxmlformats.org/drawingml/2006/main">
              <a:ext uri="{FF2B5EF4-FFF2-40B4-BE49-F238E27FC236}">
                <a16:creationId xmlns:a16="http://schemas.microsoft.com/office/drawing/2014/main" id="{CB482F49-B631-4F0B-9CCD-2F256418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638800"/>
            <a:ext cx="569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Concrete delay-to-range example</a:t>
            </a:r>
          </a:p>
        </p:txBody>
      </p:sp>
    </p:spTree>
    <p:extLst>
      <p:ext uri="{BB962C8B-B14F-4D97-AF65-F5344CB8AC3E}">
        <p14:creationId xmlns:p14="http://schemas.microsoft.com/office/powerpoint/2010/main" val="1106606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4">
            <a:extLst xmlns:a="http://schemas.openxmlformats.org/drawingml/2006/main">
              <a:ext uri="{FF2B5EF4-FFF2-40B4-BE49-F238E27FC236}">
                <a16:creationId xmlns:a16="http://schemas.microsoft.com/office/drawing/2014/main" id="{262F9A14-5EA2-46DF-B987-DCA9C41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7A250B11-1353-4DF8-BCF1-241899A0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2AE07A4C-E238-44FF-A873-0EFB5780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D5617858-CA09-4E2B-89EC-23DD8F7C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Pulse radar alternates speaking and listening</a:t>
            </a:r>
          </a:p>
        </p:txBody>
      </p:sp>
      <p:sp>
        <p:nvSpPr>
          <p:cNvPr id="5" name="rhythm-copy">
            <a:extLst xmlns:a="http://schemas.openxmlformats.org/drawingml/2006/main">
              <a:ext uri="{FF2B5EF4-FFF2-40B4-BE49-F238E27FC236}">
                <a16:creationId xmlns:a16="http://schemas.microsoft.com/office/drawing/2014/main" id="{D84CA249-DCF7-4517-892A-EBD9F33F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The antenna sends power during a short burst, then becomes a receiver for the remainder of the cycle.</a:t>
            </a:r>
          </a:p>
        </p:txBody>
      </p:sp>
      <p:sp>
        <p:nvSpPr>
          <p:cNvPr id="6" name="tx-block">
            <a:extLst xmlns:a="http://schemas.openxmlformats.org/drawingml/2006/main">
              <a:ext uri="{FF2B5EF4-FFF2-40B4-BE49-F238E27FC236}">
                <a16:creationId xmlns:a16="http://schemas.microsoft.com/office/drawing/2014/main" id="{788029E5-724F-4769-B945-A5C13F60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400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sten-block">
            <a:extLst xmlns:a="http://schemas.openxmlformats.org/drawingml/2006/main">
              <a:ext uri="{FF2B5EF4-FFF2-40B4-BE49-F238E27FC236}">
                <a16:creationId xmlns:a16="http://schemas.microsoft.com/office/drawing/2014/main" id="{95D9447C-975D-4AE6-B590-0CBB4C0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38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isten-inner">
            <a:extLst xmlns:a="http://schemas.openxmlformats.org/drawingml/2006/main">
              <a:ext uri="{FF2B5EF4-FFF2-40B4-BE49-F238E27FC236}">
                <a16:creationId xmlns:a16="http://schemas.microsoft.com/office/drawing/2014/main" id="{23D14119-EE6A-44F9-B14A-17ED12B0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LISTEN FOR THE ECHO</a:t>
            </a:r>
          </a:p>
        </p:txBody>
      </p:sp>
      <p:sp>
        <p:nvSpPr>
          <p:cNvPr id="9" name="tx-time">
            <a:extLst xmlns:a="http://schemas.openxmlformats.org/drawingml/2006/main">
              <a:ext uri="{FF2B5EF4-FFF2-40B4-BE49-F238E27FC236}">
                <a16:creationId xmlns:a16="http://schemas.microsoft.com/office/drawing/2014/main" id="{2644E2BA-ED4D-4DD7-81B9-421A31EA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rPr>
              <a:t>TX · 20 μs</a:t>
            </a:r>
          </a:p>
        </p:txBody>
      </p:sp>
      <p:sp>
        <p:nvSpPr>
          <p:cNvPr id="10" name="listen-time">
            <a:extLst xmlns:a="http://schemas.openxmlformats.org/drawingml/2006/main">
              <a:ext uri="{FF2B5EF4-FFF2-40B4-BE49-F238E27FC236}">
                <a16:creationId xmlns:a16="http://schemas.microsoft.com/office/drawing/2014/main" id="{CBD46911-90F6-4372-B2A2-F3BC45A1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76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rPr>
              <a:t>980 μs</a:t>
            </a:r>
          </a:p>
        </p:txBody>
      </p:sp>
      <p:sp>
        <p:nvSpPr>
          <p:cNvPr id="11" name="pri-time">
            <a:extLst xmlns:a="http://schemas.openxmlformats.org/drawingml/2006/main">
              <a:ext uri="{FF2B5EF4-FFF2-40B4-BE49-F238E27FC236}">
                <a16:creationId xmlns:a16="http://schemas.microsoft.com/office/drawing/2014/main" id="{39D4CAA3-C848-418A-AA99-55CECB6A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One pulse repetition interval = 1 ms</a:t>
            </a:r>
          </a:p>
        </p:txBody>
      </p:sp>
    </p:spTree>
    <p:extLst>
      <p:ext uri="{BB962C8B-B14F-4D97-AF65-F5344CB8AC3E}">
        <p14:creationId xmlns:p14="http://schemas.microsoft.com/office/powerpoint/2010/main" val="369883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">
            <a:extLst xmlns:a="http://schemas.openxmlformats.org/drawingml/2006/main">
              <a:ext uri="{FF2B5EF4-FFF2-40B4-BE49-F238E27FC236}">
                <a16:creationId xmlns:a16="http://schemas.microsoft.com/office/drawing/2014/main" id="{4F9829A4-C06B-4887-85F0-8EBEF61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1BAA143-2E81-4768-9C08-6AE342F9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74A118D2-6E3E-4CE9-A8FE-E150EDF9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3C2BA9D9-71FF-4A9E-A8DE-3D15C192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quiet interval makes range measurable</a:t>
            </a:r>
          </a:p>
        </p:txBody>
      </p:sp>
      <p:sp>
        <p:nvSpPr>
          <p:cNvPr id="5" name="listen-claim">
            <a:extLst xmlns:a="http://schemas.openxmlformats.org/drawingml/2006/main">
              <a:ext uri="{FF2B5EF4-FFF2-40B4-BE49-F238E27FC236}">
                <a16:creationId xmlns:a16="http://schemas.microsoft.com/office/drawing/2014/main" id="{0C3B810D-9961-4CBA-AEA6-11AB93DB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 weak returning echo cannot compete with the outgoing transmit signal.</a:t>
            </a:r>
          </a:p>
        </p:txBody>
      </p:sp>
      <p:sp>
        <p:nvSpPr>
          <p:cNvPr id="6" name="listen-detail">
            <a:extLst xmlns:a="http://schemas.openxmlformats.org/drawingml/2006/main">
              <a:ext uri="{FF2B5EF4-FFF2-40B4-BE49-F238E27FC236}">
                <a16:creationId xmlns:a16="http://schemas.microsoft.com/office/drawing/2014/main" id="{A0F3021B-A90B-4BED-A8CB-056AECB9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The radar stops speaking so it can hear. The pulse width is the transmit interval; the rest of the PRI is the listening window.</a:t>
            </a:r>
          </a:p>
        </p:txBody>
      </p:sp>
      <p:sp>
        <p:nvSpPr>
          <p:cNvPr id="7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90EFA425-CCCF-40EE-ADF7-71BCC28F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48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rmula-duty-label">
            <a:extLst xmlns:a="http://schemas.openxmlformats.org/drawingml/2006/main">
              <a:ext uri="{FF2B5EF4-FFF2-40B4-BE49-F238E27FC236}">
                <a16:creationId xmlns:a16="http://schemas.microsoft.com/office/drawing/2014/main" id="{7EC4E7E4-B41C-420F-80C3-3F1299A4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DUTY CYCLE</a:t>
            </a:r>
          </a:p>
        </p:txBody>
      </p:sp>
      <p:sp>
        <p:nvSpPr>
          <p:cNvPr id="9" name="formula-duty">
            <a:extLst xmlns:a="http://schemas.openxmlformats.org/drawingml/2006/main">
              <a:ext uri="{FF2B5EF4-FFF2-40B4-BE49-F238E27FC236}">
                <a16:creationId xmlns:a16="http://schemas.microsoft.com/office/drawing/2014/main" id="{AACE6C91-2913-4472-B6FF-B4830335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 = pulse width / PRI</a:t>
            </a:r>
          </a:p>
        </p:txBody>
      </p:sp>
      <p:sp>
        <p:nvSpPr>
          <p:cNvPr id="10" name="rule-690-324">
            <a:extLst xmlns:a="http://schemas.openxmlformats.org/drawingml/2006/main">
              <a:ext uri="{FF2B5EF4-FFF2-40B4-BE49-F238E27FC236}">
                <a16:creationId xmlns:a16="http://schemas.microsoft.com/office/drawing/2014/main" id="{4B8C71FD-9706-427D-9094-9F721B2F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rmula-range-label">
            <a:extLst xmlns:a="http://schemas.openxmlformats.org/drawingml/2006/main">
              <a:ext uri="{FF2B5EF4-FFF2-40B4-BE49-F238E27FC236}">
                <a16:creationId xmlns:a16="http://schemas.microsoft.com/office/drawing/2014/main" id="{D123DD77-6371-4860-A748-09DBBD2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ROUND-TRIP RANGE</a:t>
            </a:r>
          </a:p>
        </p:txBody>
      </p:sp>
      <p:sp>
        <p:nvSpPr>
          <p:cNvPr id="12" name="formula-range">
            <a:extLst xmlns:a="http://schemas.openxmlformats.org/drawingml/2006/main">
              <a:ext uri="{FF2B5EF4-FFF2-40B4-BE49-F238E27FC236}">
                <a16:creationId xmlns:a16="http://schemas.microsoft.com/office/drawing/2014/main" id="{6FB67D92-693D-44FB-869D-B3509474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 = c × echo delay / 2</a:t>
            </a:r>
          </a:p>
        </p:txBody>
      </p:sp>
      <p:sp>
        <p:nvSpPr>
          <p:cNvPr id="13" name="formula-note">
            <a:extLst xmlns:a="http://schemas.openxmlformats.org/drawingml/2006/main">
              <a:ext uri="{FF2B5EF4-FFF2-40B4-BE49-F238E27FC236}">
                <a16:creationId xmlns:a16="http://schemas.microsoft.com/office/drawing/2014/main" id="{63169969-19EA-41CB-9BBF-F222575B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Divide by two: the energy travels out and back.</a:t>
            </a:r>
          </a:p>
        </p:txBody>
      </p:sp>
    </p:spTree>
    <p:extLst>
      <p:ext uri="{BB962C8B-B14F-4D97-AF65-F5344CB8AC3E}">
        <p14:creationId xmlns:p14="http://schemas.microsoft.com/office/powerpoint/2010/main" val="895039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6">
            <a:extLst xmlns:a="http://schemas.openxmlformats.org/drawingml/2006/main">
              <a:ext uri="{FF2B5EF4-FFF2-40B4-BE49-F238E27FC236}">
                <a16:creationId xmlns:a16="http://schemas.microsoft.com/office/drawing/2014/main" id="{4AF847A0-83D5-47BB-8C0B-38AB0DAD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9DBE59B2-CCFB-4F05-B4B2-D454D53F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7E62915E-FFF4-4AD7-B2B0-54811EA9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2C4574CC-7B03-4195-8210-C3656853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Longer PRI means more listening—not more transmitting</a:t>
            </a:r>
          </a:p>
        </p:txBody>
      </p:sp>
      <p:sp>
        <p:nvSpPr>
          <p:cNvPr id="5" name="mistake-label">
            <a:extLst xmlns:a="http://schemas.openxmlformats.org/drawingml/2006/main">
              <a:ext uri="{FF2B5EF4-FFF2-40B4-BE49-F238E27FC236}">
                <a16:creationId xmlns:a16="http://schemas.microsoft.com/office/drawing/2014/main" id="{6761D87C-CB95-45C7-A21F-AFDC8259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rPr>
              <a:t>COMMON MISREAD</a:t>
            </a:r>
          </a:p>
        </p:txBody>
      </p:sp>
      <p:sp>
        <p:nvSpPr>
          <p:cNvPr id="6" name="mistake">
            <a:extLst xmlns:a="http://schemas.openxmlformats.org/drawingml/2006/main">
              <a:ext uri="{FF2B5EF4-FFF2-40B4-BE49-F238E27FC236}">
                <a16:creationId xmlns:a16="http://schemas.microsoft.com/office/drawing/2014/main" id="{59FC8093-33E8-4293-98CB-D73ABD53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“A longer interval means the radar transmits more often.”</a:t>
            </a:r>
          </a:p>
        </p:txBody>
      </p:sp>
      <p:sp>
        <p:nvSpPr>
          <p:cNvPr id="7" name="correction-label">
            <a:extLst xmlns:a="http://schemas.openxmlformats.org/drawingml/2006/main">
              <a:ext uri="{FF2B5EF4-FFF2-40B4-BE49-F238E27FC236}">
                <a16:creationId xmlns:a16="http://schemas.microsoft.com/office/drawing/2014/main" id="{8CE6BE97-4F65-4911-AC5A-769A7FA1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rPr>
              <a:t>PHYSICAL RESULT</a:t>
            </a:r>
          </a:p>
        </p:txBody>
      </p:sp>
      <p:sp>
        <p:nvSpPr>
          <p:cNvPr id="8" name="correction">
            <a:extLst xmlns:a="http://schemas.openxmlformats.org/drawingml/2006/main">
              <a:ext uri="{FF2B5EF4-FFF2-40B4-BE49-F238E27FC236}">
                <a16:creationId xmlns:a16="http://schemas.microsoft.com/office/drawing/2014/main" id="{DC69B754-C1D7-43A2-8C37-F492349E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pulse stays 20 μs. The listening window grows, so duty cycle falls.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D8850-114E-453B-B4D7-369D68FD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delay-callout">
            <a:extLst xmlns:a="http://schemas.openxmlformats.org/drawingml/2006/main">
              <a:ext uri="{FF2B5EF4-FFF2-40B4-BE49-F238E27FC236}">
                <a16:creationId xmlns:a16="http://schemas.microsoft.com/office/drawing/2014/main" id="{C0BEF878-DFEF-48D0-A354-9958DAC0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0744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lay-big">
            <a:extLst xmlns:a="http://schemas.openxmlformats.org/drawingml/2006/main">
              <a:ext uri="{FF2B5EF4-FFF2-40B4-BE49-F238E27FC236}">
                <a16:creationId xmlns:a16="http://schemas.microsoft.com/office/drawing/2014/main" id="{D4B29C4F-EAFE-4DBE-858C-F2ADFC9E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Delay is not a technical detail—it is the measurement.</a:t>
            </a:r>
          </a:p>
        </p:txBody>
      </p:sp>
    </p:spTree>
    <p:extLst>
      <p:ext uri="{BB962C8B-B14F-4D97-AF65-F5344CB8AC3E}">
        <p14:creationId xmlns:p14="http://schemas.microsoft.com/office/powerpoint/2010/main" val="9901937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7">
            <a:extLst xmlns:a="http://schemas.openxmlformats.org/drawingml/2006/main">
              <a:ext uri="{FF2B5EF4-FFF2-40B4-BE49-F238E27FC236}">
                <a16:creationId xmlns:a16="http://schemas.microsoft.com/office/drawing/2014/main" id="{0B6B2C24-E717-432B-B146-0FDABD6B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EC67268B-6BAF-49E2-8A80-30E4AC35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D3FA6926-49E3-4D29-9EEB-038AB57B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4289C5B9-5EEE-40E2-A73E-AB819B40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Pulse radar is a timing instrument</a:t>
            </a:r>
          </a:p>
        </p:txBody>
      </p:sp>
      <p:sp>
        <p:nvSpPr>
          <p:cNvPr id="5" name="rule-100-330">
            <a:extLst xmlns:a="http://schemas.openxmlformats.org/drawingml/2006/main">
              <a:ext uri="{FF2B5EF4-FFF2-40B4-BE49-F238E27FC236}">
                <a16:creationId xmlns:a16="http://schemas.microsoft.com/office/drawing/2014/main" id="{2264134D-881B-4038-9B19-402788D0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786F0-CF8F-4E7C-BF6B-872383A5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cess-label-0">
            <a:extLst xmlns:a="http://schemas.openxmlformats.org/drawingml/2006/main">
              <a:ext uri="{FF2B5EF4-FFF2-40B4-BE49-F238E27FC236}">
                <a16:creationId xmlns:a16="http://schemas.microsoft.com/office/drawing/2014/main" id="{09A56E64-C336-42D6-90B1-4BDBE9DA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rPr>
              <a:t>TRANSMIT</a:t>
            </a:r>
          </a:p>
        </p:txBody>
      </p:sp>
      <p:sp>
        <p:nvSpPr>
          <p:cNvPr id="8" name="process-body-0">
            <a:extLst xmlns:a="http://schemas.openxmlformats.org/drawingml/2006/main">
              <a:ext uri="{FF2B5EF4-FFF2-40B4-BE49-F238E27FC236}">
                <a16:creationId xmlns:a16="http://schemas.microsoft.com/office/drawing/2014/main" id="{1DC34CFF-05A9-4557-BFC5-6441D71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Create a precisely timed event.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5FA00-5B3C-42BC-91CE-56316B06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4B35C2FA-3328-42AA-8ACE-13E18136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rPr>
              <a:t>LISTEN</a:t>
            </a:r>
          </a:p>
        </p:txBody>
      </p:sp>
      <p:sp>
        <p:nvSpPr>
          <p:cNvPr id="11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8AFF6ACB-F4AA-475B-8EA1-61DCE9E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Wait for reflected energy.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A837D-2C75-4197-95FF-03FBBE0D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4652BCC4-AE00-4E7E-A1CB-2739F50A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TIME THE RETURN</a:t>
            </a:r>
          </a:p>
        </p:txBody>
      </p:sp>
      <p:sp>
        <p:nvSpPr>
          <p:cNvPr id="14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5FBA079B-0AC4-44EE-93C2-3FB08990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Use the delay as a distance measurement.</a:t>
            </a:r>
          </a:p>
        </p:txBody>
      </p:sp>
    </p:spTree>
    <p:extLst>
      <p:ext uri="{BB962C8B-B14F-4D97-AF65-F5344CB8AC3E}">
        <p14:creationId xmlns:p14="http://schemas.microsoft.com/office/powerpoint/2010/main" val="434114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8">
            <a:extLst xmlns:a="http://schemas.openxmlformats.org/drawingml/2006/main">
              <a:ext uri="{FF2B5EF4-FFF2-40B4-BE49-F238E27FC236}">
                <a16:creationId xmlns:a16="http://schemas.microsoft.com/office/drawing/2014/main" id="{4238743D-BAE9-4769-90B2-32A45D4A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03F43DE7-DE71-4FA7-B381-1F1CAAF0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2035F35E-E912-44DE-B2FE-3B325875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96C0E4F3-4659-4FB6-AFE8-5C021F5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measurement happens while the radar listens</a:t>
            </a:r>
          </a:p>
        </p:txBody>
      </p:sp>
      <p:sp>
        <p:nvSpPr>
          <p:cNvPr id="5" name="rule-48-188">
            <a:extLst xmlns:a="http://schemas.openxmlformats.org/drawingml/2006/main">
              <a:ext uri="{FF2B5EF4-FFF2-40B4-BE49-F238E27FC236}">
                <a16:creationId xmlns:a16="http://schemas.microsoft.com/office/drawing/2014/main" id="{E618979F-9218-400B-9C97-D5DA63B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-20 μs">
            <a:extLst xmlns:a="http://schemas.openxmlformats.org/drawingml/2006/main">
              <a:ext uri="{FF2B5EF4-FFF2-40B4-BE49-F238E27FC236}">
                <a16:creationId xmlns:a16="http://schemas.microsoft.com/office/drawing/2014/main" id="{D6A575EF-AEFF-4388-BAC3-BF4985EB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20 μs</a:t>
            </a:r>
          </a:p>
        </p:txBody>
      </p:sp>
      <p:sp>
        <p:nvSpPr>
          <p:cNvPr id="7" name="metric-label-Transmit: the radar speaks">
            <a:extLst xmlns:a="http://schemas.openxmlformats.org/drawingml/2006/main">
              <a:ext uri="{FF2B5EF4-FFF2-40B4-BE49-F238E27FC236}">
                <a16:creationId xmlns:a16="http://schemas.microsoft.com/office/drawing/2014/main" id="{FB6A31CC-9273-4094-B85B-66A3910E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Transmit: the radar speaks</a:t>
            </a:r>
          </a:p>
        </p:txBody>
      </p:sp>
      <p:sp>
        <p:nvSpPr>
          <p:cNvPr id="8" name="rule-474-188">
            <a:extLst xmlns:a="http://schemas.openxmlformats.org/drawingml/2006/main">
              <a:ext uri="{FF2B5EF4-FFF2-40B4-BE49-F238E27FC236}">
                <a16:creationId xmlns:a16="http://schemas.microsoft.com/office/drawing/2014/main" id="{601EE783-080B-447B-AA59-5B840D66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-980 μs">
            <a:extLst xmlns:a="http://schemas.openxmlformats.org/drawingml/2006/main">
              <a:ext uri="{FF2B5EF4-FFF2-40B4-BE49-F238E27FC236}">
                <a16:creationId xmlns:a16="http://schemas.microsoft.com/office/drawing/2014/main" id="{8BE7B912-BA6E-467C-8216-389CE7B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193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980 μs</a:t>
            </a:r>
          </a:p>
        </p:txBody>
      </p:sp>
      <p:sp>
        <p:nvSpPr>
          <p:cNvPr id="10" name="metric-label-Listen: the echo can return">
            <a:extLst xmlns:a="http://schemas.openxmlformats.org/drawingml/2006/main">
              <a:ext uri="{FF2B5EF4-FFF2-40B4-BE49-F238E27FC236}">
                <a16:creationId xmlns:a16="http://schemas.microsoft.com/office/drawing/2014/main" id="{55DEAAEB-D325-49D0-BED5-89CB94A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Listen: the echo can return</a:t>
            </a:r>
          </a:p>
        </p:txBody>
      </p:sp>
      <p:sp>
        <p:nvSpPr>
          <p:cNvPr id="11" name="rule-900-188">
            <a:extLst xmlns:a="http://schemas.openxmlformats.org/drawingml/2006/main">
              <a:ext uri="{FF2B5EF4-FFF2-40B4-BE49-F238E27FC236}">
                <a16:creationId xmlns:a16="http://schemas.microsoft.com/office/drawing/2014/main" id="{52BE77DF-C699-4B7D-865B-DDA9CE6E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value-1 ms">
            <a:extLst xmlns:a="http://schemas.openxmlformats.org/drawingml/2006/main">
              <a:ext uri="{FF2B5EF4-FFF2-40B4-BE49-F238E27FC236}">
                <a16:creationId xmlns:a16="http://schemas.microsoft.com/office/drawing/2014/main" id="{FB7931B5-64C4-462F-81D5-B9D9AF87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1 ms</a:t>
            </a:r>
          </a:p>
        </p:txBody>
      </p:sp>
      <p:sp>
        <p:nvSpPr>
          <p:cNvPr id="13" name="metric-label-One complete PRI">
            <a:extLst xmlns:a="http://schemas.openxmlformats.org/drawingml/2006/main">
              <a:ext uri="{FF2B5EF4-FFF2-40B4-BE49-F238E27FC236}">
                <a16:creationId xmlns:a16="http://schemas.microsoft.com/office/drawing/2014/main" id="{9584EA84-B80A-465C-ADCC-3C04F73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One complete PRI</a:t>
            </a:r>
          </a:p>
        </p:txBody>
      </p:sp>
      <p:sp>
        <p:nvSpPr>
          <p:cNvPr id="14" name="listening-message">
            <a:extLst xmlns:a="http://schemas.openxmlformats.org/drawingml/2006/main">
              <a:ext uri="{FF2B5EF4-FFF2-40B4-BE49-F238E27FC236}">
                <a16:creationId xmlns:a16="http://schemas.microsoft.com/office/drawing/2014/main" id="{F038445B-4A05-4099-80F4-21A2AC73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0782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istening-message-text">
            <a:extLst xmlns:a="http://schemas.openxmlformats.org/drawingml/2006/main">
              <a:ext uri="{FF2B5EF4-FFF2-40B4-BE49-F238E27FC236}">
                <a16:creationId xmlns:a16="http://schemas.microsoft.com/office/drawing/2014/main" id="{139FCAA6-08F0-4E83-AD15-E1012008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listening window is not idle time. It is where the measurement actually happens.</a:t>
            </a:r>
          </a:p>
        </p:txBody>
      </p:sp>
    </p:spTree>
    <p:extLst>
      <p:ext uri="{BB962C8B-B14F-4D97-AF65-F5344CB8AC3E}">
        <p14:creationId xmlns:p14="http://schemas.microsoft.com/office/powerpoint/2010/main" val="390745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9">
            <a:extLst xmlns:a="http://schemas.openxmlformats.org/drawingml/2006/main">
              <a:ext uri="{FF2B5EF4-FFF2-40B4-BE49-F238E27FC236}">
                <a16:creationId xmlns:a16="http://schemas.microsoft.com/office/drawing/2014/main" id="{D86A57A2-FE06-4FEF-8377-FF721635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6E667925-5797-4386-9552-8BE85673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5EABDF3F-0F10-48BD-BDC2-CE57409E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80018321-61F0-4BD3-9411-8603E2BA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radar transmits only two percent of the time</a:t>
            </a:r>
          </a:p>
        </p:txBody>
      </p:sp>
      <p:sp>
        <p:nvSpPr>
          <p:cNvPr id="5" name="duty-equation">
            <a:extLst xmlns:a="http://schemas.openxmlformats.org/drawingml/2006/main">
              <a:ext uri="{FF2B5EF4-FFF2-40B4-BE49-F238E27FC236}">
                <a16:creationId xmlns:a16="http://schemas.microsoft.com/office/drawing/2014/main" id="{364DDC73-4A05-4796-9346-9D66E463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20 μs ÷ 1 ms = 0.02</a:t>
            </a:r>
          </a:p>
        </p:txBody>
      </p:sp>
      <p:sp>
        <p:nvSpPr>
          <p:cNvPr id="6" name="duty-copy">
            <a:extLst xmlns:a="http://schemas.openxmlformats.org/drawingml/2006/main">
              <a:ext uri="{FF2B5EF4-FFF2-40B4-BE49-F238E27FC236}">
                <a16:creationId xmlns:a16="http://schemas.microsoft.com/office/drawing/2014/main" id="{C9413528-9DB6-4717-9D72-CC3A2A4A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Duty cycle asks what fraction of each interval is spent transmitting.</a:t>
            </a:r>
          </a:p>
        </p:txBody>
      </p:sp>
      <p:sp>
        <p:nvSpPr>
          <p:cNvPr id="7" name="duty-tx">
            <a:extLst xmlns:a="http://schemas.openxmlformats.org/drawingml/2006/main">
              <a:ext uri="{FF2B5EF4-FFF2-40B4-BE49-F238E27FC236}">
                <a16:creationId xmlns:a16="http://schemas.microsoft.com/office/drawing/2014/main" id="{B27C0987-03E7-415A-92D1-C3FB464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2190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uty-listen">
            <a:extLst xmlns:a="http://schemas.openxmlformats.org/drawingml/2006/main">
              <a:ext uri="{FF2B5EF4-FFF2-40B4-BE49-F238E27FC236}">
                <a16:creationId xmlns:a16="http://schemas.microsoft.com/office/drawing/2014/main" id="{C54EF695-73B8-4A03-936B-870F0230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48100"/>
            <a:ext cx="105632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E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uty-2">
            <a:extLst xmlns:a="http://schemas.openxmlformats.org/drawingml/2006/main">
              <a:ext uri="{FF2B5EF4-FFF2-40B4-BE49-F238E27FC236}">
                <a16:creationId xmlns:a16="http://schemas.microsoft.com/office/drawing/2014/main" id="{C426BB95-060F-47E6-89A6-73C84BEA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rPr>
              <a:t>2% TX</a:t>
            </a:r>
          </a:p>
        </p:txBody>
      </p:sp>
      <p:sp>
        <p:nvSpPr>
          <p:cNvPr id="10" name="duty-98">
            <a:extLst xmlns:a="http://schemas.openxmlformats.org/drawingml/2006/main">
              <a:ext uri="{FF2B5EF4-FFF2-40B4-BE49-F238E27FC236}">
                <a16:creationId xmlns:a16="http://schemas.microsoft.com/office/drawing/2014/main" id="{D84A5751-95C2-4140-BFA7-6AC72F17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054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rPr>
              <a:t>98% LISTEN</a:t>
            </a:r>
          </a:p>
        </p:txBody>
      </p:sp>
    </p:spTree>
    <p:extLst>
      <p:ext uri="{BB962C8B-B14F-4D97-AF65-F5344CB8AC3E}">
        <p14:creationId xmlns:p14="http://schemas.microsoft.com/office/powerpoint/2010/main" val="924820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0">
            <a:extLst xmlns:a="http://schemas.openxmlformats.org/drawingml/2006/main">
              <a:ext uri="{FF2B5EF4-FFF2-40B4-BE49-F238E27FC236}">
                <a16:creationId xmlns:a16="http://schemas.microsoft.com/office/drawing/2014/main" id="{4A9FD8EF-8A45-4154-AF29-1B6FE1C4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NOTEBOOK 00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C90E2B1A-1063-496B-957C-8F02459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F2D26AB7-E602-4846-936A-45214898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4E457BB4-9FEA-4B08-8BCE-1FBE4A6A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Delay becomes range through a round trip</a:t>
            </a:r>
          </a:p>
        </p:txBody>
      </p:sp>
      <p:sp>
        <p:nvSpPr>
          <p:cNvPr id="5" name="range-step-0">
            <a:extLst xmlns:a="http://schemas.openxmlformats.org/drawingml/2006/main">
              <a:ext uri="{FF2B5EF4-FFF2-40B4-BE49-F238E27FC236}">
                <a16:creationId xmlns:a16="http://schemas.microsoft.com/office/drawing/2014/main" id="{038E7A3F-ACC1-430A-97A6-D44C56D6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247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ange-value-0">
            <a:extLst xmlns:a="http://schemas.openxmlformats.org/drawingml/2006/main">
              <a:ext uri="{FF2B5EF4-FFF2-40B4-BE49-F238E27FC236}">
                <a16:creationId xmlns:a16="http://schemas.microsoft.com/office/drawing/2014/main" id="{DC01E5E7-FEFA-458C-86CB-EDAA85F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1,000 m</a:t>
            </a:r>
          </a:p>
        </p:txBody>
      </p:sp>
      <p:sp>
        <p:nvSpPr>
          <p:cNvPr id="7" name="range-label-0">
            <a:extLst xmlns:a="http://schemas.openxmlformats.org/drawingml/2006/main">
              <a:ext uri="{FF2B5EF4-FFF2-40B4-BE49-F238E27FC236}">
                <a16:creationId xmlns:a16="http://schemas.microsoft.com/office/drawing/2014/main" id="{CEEFF785-A1F6-4D0E-8CDE-93A8F209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Target range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36DFF-82E6-4C85-A43B-AD78C0FA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098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range-step-1">
            <a:extLst xmlns:a="http://schemas.openxmlformats.org/drawingml/2006/main">
              <a:ext uri="{FF2B5EF4-FFF2-40B4-BE49-F238E27FC236}">
                <a16:creationId xmlns:a16="http://schemas.microsoft.com/office/drawing/2014/main" id="{51D8B657-EFE5-41A6-8C46-AD4D2AD1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2247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ange-value-1">
            <a:extLst xmlns:a="http://schemas.openxmlformats.org/drawingml/2006/main">
              <a:ext uri="{FF2B5EF4-FFF2-40B4-BE49-F238E27FC236}">
                <a16:creationId xmlns:a16="http://schemas.microsoft.com/office/drawing/2014/main" id="{AD41C4B1-2F29-4D40-AB02-028AE89E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6.67 μs</a:t>
            </a:r>
          </a:p>
        </p:txBody>
      </p:sp>
      <p:sp>
        <p:nvSpPr>
          <p:cNvPr id="11" name="range-label-1">
            <a:extLst xmlns:a="http://schemas.openxmlformats.org/drawingml/2006/main">
              <a:ext uri="{FF2B5EF4-FFF2-40B4-BE49-F238E27FC236}">
                <a16:creationId xmlns:a16="http://schemas.microsoft.com/office/drawing/2014/main" id="{A0BAC227-AA2C-4CE0-9FE9-4DE92538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Round-trip delay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C8201-83C3-497A-8A85-616F4B32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range-step-2">
            <a:extLst xmlns:a="http://schemas.openxmlformats.org/drawingml/2006/main">
              <a:ext uri="{FF2B5EF4-FFF2-40B4-BE49-F238E27FC236}">
                <a16:creationId xmlns:a16="http://schemas.microsoft.com/office/drawing/2014/main" id="{F7854E28-6AA9-4DEE-B3ED-875856F8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2247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range-value-2">
            <a:extLst xmlns:a="http://schemas.openxmlformats.org/drawingml/2006/main">
              <a:ext uri="{FF2B5EF4-FFF2-40B4-BE49-F238E27FC236}">
                <a16:creationId xmlns:a16="http://schemas.microsoft.com/office/drawing/2014/main" id="{856332C3-57BE-45A0-8CA1-05FB77AD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133</a:t>
            </a:r>
          </a:p>
        </p:txBody>
      </p:sp>
      <p:sp>
        <p:nvSpPr>
          <p:cNvPr id="15" name="range-label-2">
            <a:extLst xmlns:a="http://schemas.openxmlformats.org/drawingml/2006/main">
              <a:ext uri="{FF2B5EF4-FFF2-40B4-BE49-F238E27FC236}">
                <a16:creationId xmlns:a16="http://schemas.microsoft.com/office/drawing/2014/main" id="{42B29534-69FD-495F-9D9D-F804695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Recorded samples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A9809-9749-483B-AE76-1ED568CC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range-step-3">
            <a:extLst xmlns:a="http://schemas.openxmlformats.org/drawingml/2006/main">
              <a:ext uri="{FF2B5EF4-FFF2-40B4-BE49-F238E27FC236}">
                <a16:creationId xmlns:a16="http://schemas.microsoft.com/office/drawing/2014/main" id="{C71B8674-A58A-4A47-BB11-4549C8F5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247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range-value-3">
            <a:extLst xmlns:a="http://schemas.openxmlformats.org/drawingml/2006/main">
              <a:ext uri="{FF2B5EF4-FFF2-40B4-BE49-F238E27FC236}">
                <a16:creationId xmlns:a16="http://schemas.microsoft.com/office/drawing/2014/main" id="{B8D9D1B3-27FA-4B52-AADB-F7BCAD5C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996.8 m</a:t>
            </a:r>
          </a:p>
        </p:txBody>
      </p:sp>
      <p:sp>
        <p:nvSpPr>
          <p:cNvPr id="19" name="range-label-3">
            <a:extLst xmlns:a="http://schemas.openxmlformats.org/drawingml/2006/main">
              <a:ext uri="{FF2B5EF4-FFF2-40B4-BE49-F238E27FC236}">
                <a16:creationId xmlns:a16="http://schemas.microsoft.com/office/drawing/2014/main" id="{17E5FE35-A195-4032-961F-FE0511DF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Quantized estimate</a:t>
            </a:r>
          </a:p>
        </p:txBody>
      </p:sp>
      <p:sp>
        <p:nvSpPr>
          <p:cNvPr id="20" name="range-formula">
            <a:extLst xmlns:a="http://schemas.openxmlformats.org/drawingml/2006/main">
              <a:ext uri="{FF2B5EF4-FFF2-40B4-BE49-F238E27FC236}">
                <a16:creationId xmlns:a16="http://schemas.microsoft.com/office/drawing/2014/main" id="{46D9A9CD-7F63-4D4F-B101-4F75956F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 = c × delay / 2</a:t>
            </a:r>
          </a:p>
        </p:txBody>
      </p:sp>
      <p:sp>
        <p:nvSpPr>
          <p:cNvPr id="21" name="quantization">
            <a:extLst xmlns:a="http://schemas.openxmlformats.org/drawingml/2006/main">
              <a:ext uri="{FF2B5EF4-FFF2-40B4-BE49-F238E27FC236}">
                <a16:creationId xmlns:a16="http://schemas.microsoft.com/office/drawing/2014/main" id="{C1AF31C8-7D36-4F5E-B746-D4F0F5AF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The 3.2 m gap is sample quantization: the true delay falls between two recorded sample boundaries.</a:t>
            </a:r>
          </a:p>
        </p:txBody>
      </p:sp>
    </p:spTree>
    <p:extLst>
      <p:ext uri="{BB962C8B-B14F-4D97-AF65-F5344CB8AC3E}">
        <p14:creationId xmlns:p14="http://schemas.microsoft.com/office/powerpoint/2010/main" val="6372378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11">
            <a:extLst xmlns:a="http://schemas.openxmlformats.org/drawingml/2006/main">
              <a:ext uri="{FF2B5EF4-FFF2-40B4-BE49-F238E27FC236}">
                <a16:creationId xmlns:a16="http://schemas.microsoft.com/office/drawing/2014/main" id="{FB1D9FBD-6D12-4E0A-A9EE-3A43D37C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ACTIVE RADAR · FOUNDATION COMPLETE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7DA10D6C-9383-43F2-AC83-1483EF5A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rule-48-654">
            <a:extLst xmlns:a="http://schemas.openxmlformats.org/drawingml/2006/main">
              <a:ext uri="{FF2B5EF4-FFF2-40B4-BE49-F238E27FC236}">
                <a16:creationId xmlns:a16="http://schemas.microsoft.com/office/drawing/2014/main" id="{4EC67E73-BBB9-4D7A-9180-BB71FE4D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D4DD2D2-897F-4BC0-8939-138B52A9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Transmit. Listen.</a:t>
            </a:r>
          </a:p>
          <a:p xmlns:a="http://schemas.openxmlformats.org/drawingml/2006/main">
            <a:pPr algn="l">
              <a:defRPr sz="4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Time the return.</a:t>
            </a:r>
          </a:p>
        </p:txBody>
      </p:sp>
      <p:sp>
        <p:nvSpPr>
          <p:cNvPr id="5" name="close-copy">
            <a:extLst xmlns:a="http://schemas.openxmlformats.org/drawingml/2006/main">
              <a:ext uri="{FF2B5EF4-FFF2-40B4-BE49-F238E27FC236}">
                <a16:creationId xmlns:a16="http://schemas.microsoft.com/office/drawing/2014/main" id="{ED7B70E8-3532-4025-AF36-4C70EF6A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666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Careful timing turns an echo delay into a physical measurement with meaning.</a:t>
            </a:r>
          </a:p>
        </p:txBody>
      </p:sp>
      <p:sp>
        <p:nvSpPr>
          <p:cNvPr id="6" name="close-value-0">
            <a:extLst xmlns:a="http://schemas.openxmlformats.org/drawingml/2006/main">
              <a:ext uri="{FF2B5EF4-FFF2-40B4-BE49-F238E27FC236}">
                <a16:creationId xmlns:a16="http://schemas.microsoft.com/office/drawing/2014/main" id="{10B75106-C229-49DD-B544-1BF55544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D95F02"/>
                </a:solidFill>
                <a:latin typeface="Helvetica Neue"/>
                <a:ea typeface="Helvetica Neue"/>
                <a:cs typeface="Helvetica Neue"/>
              </a:rPr>
              <a:t>2%</a:t>
            </a:r>
          </a:p>
        </p:txBody>
      </p:sp>
      <p:sp>
        <p:nvSpPr>
          <p:cNvPr id="7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29FE9609-456D-4E40-8A38-88AF6108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525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TRANSMIT</a:t>
            </a:r>
          </a:p>
        </p:txBody>
      </p:sp>
      <p:sp>
        <p:nvSpPr>
          <p:cNvPr id="8" name="close-value-1">
            <a:extLst xmlns:a="http://schemas.openxmlformats.org/drawingml/2006/main">
              <a:ext uri="{FF2B5EF4-FFF2-40B4-BE49-F238E27FC236}">
                <a16:creationId xmlns:a16="http://schemas.microsoft.com/office/drawing/2014/main" id="{0D195B69-5CA0-43EE-8F8F-D475355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B9E77"/>
                </a:solidFill>
                <a:latin typeface="Helvetica Neue"/>
                <a:ea typeface="Helvetica Neue"/>
                <a:cs typeface="Helvetica Neue"/>
              </a:rPr>
              <a:t>98%</a:t>
            </a:r>
          </a:p>
        </p:txBody>
      </p:sp>
      <p:sp>
        <p:nvSpPr>
          <p:cNvPr id="9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41CCA9AD-F83F-47AD-AF86-F99B1D8B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90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LISTEN</a:t>
            </a:r>
          </a:p>
        </p:txBody>
      </p:sp>
      <p:sp>
        <p:nvSpPr>
          <p:cNvPr id="10" name="close-value-2">
            <a:extLst xmlns:a="http://schemas.openxmlformats.org/drawingml/2006/main">
              <a:ext uri="{FF2B5EF4-FFF2-40B4-BE49-F238E27FC236}">
                <a16:creationId xmlns:a16="http://schemas.microsoft.com/office/drawing/2014/main" id="{173DF07D-8411-4715-9FDA-6359CFAF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133</a:t>
            </a:r>
          </a:p>
        </p:txBody>
      </p:sp>
      <p:sp>
        <p:nvSpPr>
          <p:cNvPr id="11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C6AF4B38-6CB0-43C0-A7E2-836C6C14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290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470"/>
                </a:solidFill>
                <a:latin typeface="Helvetica Neue"/>
                <a:ea typeface="Helvetica Neue"/>
                <a:cs typeface="Helvetica Neue"/>
              </a:rPr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926295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2026-08-27T07:57:28.8230000Z</dcterms:created>
  <dcterms:modified xsi:type="dcterms:W3CDTF">2026-08-27T07:57:28.8230000Z</dcterms:modified>
</coreProperties>
</file>